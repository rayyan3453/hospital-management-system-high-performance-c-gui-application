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8685599"/>
            <a:ext cx="20088393" cy="182193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7083553"/>
            <a:ext cx="20088393" cy="1429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345539"/>
            <a:ext cx="20088393" cy="516738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73792" y="2819285"/>
            <a:ext cx="6023610" cy="762000"/>
          </a:xfrm>
          <a:custGeom>
            <a:avLst/>
            <a:gdLst/>
            <a:ahLst/>
            <a:cxnLst/>
            <a:rect l="l" t="t" r="r" b="b"/>
            <a:pathLst>
              <a:path w="6023609" h="762000">
                <a:moveTo>
                  <a:pt x="6023377" y="761756"/>
                </a:moveTo>
                <a:lnTo>
                  <a:pt x="0" y="761756"/>
                </a:lnTo>
                <a:lnTo>
                  <a:pt x="0" y="0"/>
                </a:lnTo>
                <a:lnTo>
                  <a:pt x="6023377" y="0"/>
                </a:lnTo>
                <a:lnTo>
                  <a:pt x="6023377" y="76175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5872" y="2643632"/>
            <a:ext cx="6038850" cy="90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A8A8A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A8A8A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1177974"/>
            <a:ext cx="20088393" cy="9894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706" y="2937083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1115149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5102" y="915936"/>
            <a:ext cx="7073265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6631" y="4567658"/>
            <a:ext cx="13644244" cy="3261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A8A8A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kit.com/" TargetMode="External"/><Relationship Id="rId2" Type="http://schemas.openxmlformats.org/officeDocument/2006/relationships/hyperlink" Target="https://www.slidekit.com/wpcontent/uploads/2025/05/Multi-Tiered-Enterprise-Architecture-Diagram-PowerPoint-Template.jpg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multipurposethemes.com/" TargetMode="External"/><Relationship Id="rId4" Type="http://schemas.openxmlformats.org/officeDocument/2006/relationships/hyperlink" Target="https://multipurposethemes.com/wp-content/uploads/2024/10/Powerful-Dark-Mode-Hospital-Dashboard-for-Medical-Facilities-1-1200x675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1115149"/>
            <a:ext cx="20088393" cy="1350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2858551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56250" y="2725435"/>
            <a:ext cx="9906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80" dirty="0"/>
              <a:t>High-</a:t>
            </a:r>
            <a:r>
              <a:rPr sz="4000" spc="-65" dirty="0"/>
              <a:t>Performance</a:t>
            </a:r>
            <a:r>
              <a:rPr sz="4000" spc="-185" dirty="0"/>
              <a:t> </a:t>
            </a:r>
            <a:r>
              <a:rPr sz="4000" spc="-145" dirty="0"/>
              <a:t>C++</a:t>
            </a:r>
            <a:r>
              <a:rPr sz="4000" spc="-105" dirty="0"/>
              <a:t> </a:t>
            </a:r>
            <a:r>
              <a:rPr sz="4000" spc="-150" dirty="0"/>
              <a:t>GUI</a:t>
            </a:r>
            <a:r>
              <a:rPr sz="4000" spc="-20" dirty="0"/>
              <a:t> </a:t>
            </a:r>
            <a:r>
              <a:rPr sz="4000" spc="-65" dirty="0"/>
              <a:t>Application</a:t>
            </a:r>
            <a:endParaRPr sz="4000" dirty="0"/>
          </a:p>
        </p:txBody>
      </p:sp>
      <p:sp>
        <p:nvSpPr>
          <p:cNvPr id="5" name="object 5"/>
          <p:cNvSpPr/>
          <p:nvPr/>
        </p:nvSpPr>
        <p:spPr>
          <a:xfrm>
            <a:off x="15706" y="4067938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89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06" y="4680485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1974850" y="8702675"/>
            <a:ext cx="16154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3B8075"/>
                </a:solidFill>
                <a:latin typeface="Arial MT"/>
                <a:cs typeface="Arial MT"/>
              </a:rPr>
              <a:t>Wasi</a:t>
            </a:r>
            <a:r>
              <a:rPr sz="3600" spc="-5" dirty="0">
                <a:solidFill>
                  <a:srgbClr val="3B8075"/>
                </a:solidFill>
                <a:latin typeface="Arial MT"/>
                <a:cs typeface="Arial MT"/>
              </a:rPr>
              <a:t> </a:t>
            </a:r>
            <a:r>
              <a:rPr lang="en-US" sz="3600" spc="-5" dirty="0">
                <a:solidFill>
                  <a:srgbClr val="3B8075"/>
                </a:solidFill>
                <a:latin typeface="Arial MT"/>
                <a:cs typeface="Arial MT"/>
              </a:rPr>
              <a:t>ul Murtaza </a:t>
            </a:r>
            <a:r>
              <a:rPr sz="3600" spc="-20" dirty="0">
                <a:solidFill>
                  <a:srgbClr val="56C6B5"/>
                </a:solidFill>
                <a:latin typeface="Arial MT"/>
                <a:cs typeface="Arial MT"/>
              </a:rPr>
              <a:t>Alv</a:t>
            </a:r>
            <a:r>
              <a:rPr sz="3600" spc="-20" dirty="0">
                <a:solidFill>
                  <a:srgbClr val="418080"/>
                </a:solidFill>
                <a:latin typeface="Arial MT"/>
                <a:cs typeface="Arial MT"/>
              </a:rPr>
              <a:t>i</a:t>
            </a:r>
            <a:r>
              <a:rPr lang="en-US" sz="3600" spc="-20" dirty="0">
                <a:solidFill>
                  <a:srgbClr val="418080"/>
                </a:solidFill>
                <a:latin typeface="Arial MT"/>
                <a:cs typeface="Arial MT"/>
              </a:rPr>
              <a:t>                     542470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1898650" y="4816475"/>
            <a:ext cx="15697200" cy="172996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solidFill>
                  <a:srgbClr val="31A79E"/>
                </a:solidFill>
                <a:latin typeface="Arial MT"/>
                <a:cs typeface="Arial MT"/>
              </a:rPr>
              <a:t>Asim</a:t>
            </a:r>
            <a:r>
              <a:rPr sz="3600" spc="-80" dirty="0">
                <a:solidFill>
                  <a:srgbClr val="31A79E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34CCAA"/>
                </a:solidFill>
                <a:latin typeface="Arial MT"/>
                <a:cs typeface="Arial MT"/>
              </a:rPr>
              <a:t>Ahmad</a:t>
            </a:r>
            <a:r>
              <a:rPr lang="en-US" sz="3600" spc="-10" dirty="0">
                <a:solidFill>
                  <a:srgbClr val="34CCAA"/>
                </a:solidFill>
                <a:latin typeface="Arial MT"/>
                <a:cs typeface="Arial MT"/>
              </a:rPr>
              <a:t>                                 548916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3600" dirty="0">
                <a:solidFill>
                  <a:srgbClr val="348580"/>
                </a:solidFill>
                <a:latin typeface="Arial MT"/>
                <a:cs typeface="Arial MT"/>
              </a:rPr>
              <a:t>Hafiz </a:t>
            </a:r>
            <a:r>
              <a:rPr sz="3600" dirty="0">
                <a:solidFill>
                  <a:srgbClr val="348580"/>
                </a:solidFill>
                <a:latin typeface="Arial MT"/>
                <a:cs typeface="Arial MT"/>
              </a:rPr>
              <a:t>Qazi</a:t>
            </a:r>
            <a:r>
              <a:rPr sz="3600" spc="-30" dirty="0">
                <a:solidFill>
                  <a:srgbClr val="348580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5BC4B8"/>
                </a:solidFill>
                <a:latin typeface="Arial MT"/>
                <a:cs typeface="Arial MT"/>
              </a:rPr>
              <a:t>Sharjeel</a:t>
            </a:r>
            <a:r>
              <a:rPr lang="en-US" sz="3600" spc="-10" dirty="0">
                <a:solidFill>
                  <a:srgbClr val="5BC4B8"/>
                </a:solidFill>
                <a:latin typeface="Arial MT"/>
                <a:cs typeface="Arial MT"/>
              </a:rPr>
              <a:t>                       545050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898650" y="7102475"/>
            <a:ext cx="15773400" cy="113749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150" dirty="0">
                <a:solidFill>
                  <a:srgbClr val="23B59E"/>
                </a:solidFill>
                <a:latin typeface="Calibri"/>
                <a:cs typeface="Calibri"/>
              </a:rPr>
              <a:t>Rayyan</a:t>
            </a:r>
            <a:r>
              <a:rPr sz="3600" spc="70" dirty="0">
                <a:solidFill>
                  <a:srgbClr val="23B59E"/>
                </a:solidFill>
                <a:latin typeface="Calibri"/>
                <a:cs typeface="Calibri"/>
              </a:rPr>
              <a:t> </a:t>
            </a:r>
            <a:r>
              <a:rPr lang="en-US" sz="3600" spc="135" dirty="0">
                <a:solidFill>
                  <a:srgbClr val="44C8AC"/>
                </a:solidFill>
                <a:latin typeface="Calibri"/>
                <a:cs typeface="Calibri"/>
              </a:rPr>
              <a:t>Ali Khan                              540505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A29C7555-641A-3AB6-ADF8-79DCA952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B5AB64-C8BA-1B51-C491-5772AF66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62"/>
            <a:ext cx="20198232" cy="11256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F90686B2-AC0A-68E7-3A1C-4C5582F3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58D47B-3FC0-63DA-93D6-3A4FA4DF8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140" y="0"/>
            <a:ext cx="20688335" cy="11522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9FDD367C-6169-F3DA-E0EB-85CCDD20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7351D7-A8AA-6F85-20DB-8FBD735D3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950" y="-81492"/>
            <a:ext cx="20574000" cy="11472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AFC21B-0996-CF66-001B-9013B3C2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3B80FB-BE5F-45C5-1997-8AD616E4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39" y="1"/>
            <a:ext cx="20257391" cy="11141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D83CD9D1-4371-F13F-DBCD-14F6075D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9B8EE2B-B493-AC14-5B2F-C7F30408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75"/>
            <a:ext cx="20104100" cy="10452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319240"/>
            <a:ext cx="20088393" cy="16334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926673"/>
            <a:ext cx="20080605" cy="934719"/>
          </a:xfrm>
          <a:custGeom>
            <a:avLst/>
            <a:gdLst/>
            <a:ahLst/>
            <a:cxnLst/>
            <a:rect l="l" t="t" r="r" b="b"/>
            <a:pathLst>
              <a:path w="20080605" h="934719">
                <a:moveTo>
                  <a:pt x="20080541" y="934526"/>
                </a:moveTo>
                <a:lnTo>
                  <a:pt x="0" y="93452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3452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5102" y="915936"/>
            <a:ext cx="792670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740" algn="l"/>
              </a:tabLst>
            </a:pPr>
            <a:r>
              <a:rPr sz="5800" spc="-1000" dirty="0">
                <a:solidFill>
                  <a:srgbClr val="26D6C3"/>
                </a:solidFill>
              </a:rPr>
              <a:t>)</a:t>
            </a:r>
            <a:r>
              <a:rPr sz="5800" dirty="0">
                <a:solidFill>
                  <a:srgbClr val="26D6C3"/>
                </a:solidFill>
              </a:rPr>
              <a:t>	</a:t>
            </a:r>
            <a:r>
              <a:rPr sz="5800" dirty="0"/>
              <a:t>Challenges</a:t>
            </a:r>
            <a:r>
              <a:rPr sz="5800" spc="509" dirty="0"/>
              <a:t> </a:t>
            </a:r>
            <a:r>
              <a:rPr sz="5800" spc="-10" dirty="0"/>
              <a:t>Overcome</a:t>
            </a:r>
            <a:endParaRPr sz="5800"/>
          </a:p>
        </p:txBody>
      </p:sp>
      <p:sp>
        <p:nvSpPr>
          <p:cNvPr id="5" name="object 5"/>
          <p:cNvSpPr/>
          <p:nvPr/>
        </p:nvSpPr>
        <p:spPr>
          <a:xfrm>
            <a:off x="15706" y="6486713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0" y="6337892"/>
            <a:ext cx="59258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9065" algn="l"/>
                <a:tab pos="2987675" algn="l"/>
              </a:tabLst>
            </a:pP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FONT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ATLAS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600" spc="-120" dirty="0">
                <a:solidFill>
                  <a:srgbClr val="FFFFFF"/>
                </a:solidFill>
                <a:latin typeface="Arial MT"/>
                <a:cs typeface="Arial MT"/>
              </a:rPr>
              <a:t>CORRUPTION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99341" y="6321531"/>
            <a:ext cx="3744595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991360" algn="l"/>
              </a:tabLst>
            </a:pPr>
            <a:r>
              <a:rPr sz="3700" spc="-375" dirty="0">
                <a:solidFill>
                  <a:srgbClr val="FFFFFF"/>
                </a:solidFill>
                <a:latin typeface="Arial MT"/>
                <a:cs typeface="Arial MT"/>
              </a:rPr>
              <a:t>LIBR</a:t>
            </a:r>
            <a:r>
              <a:rPr sz="37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700" spc="-484" dirty="0">
                <a:solidFill>
                  <a:srgbClr val="FFFFFF"/>
                </a:solidFill>
                <a:latin typeface="Arial MT"/>
                <a:cs typeface="Arial MT"/>
              </a:rPr>
              <a:t>ARY</a:t>
            </a:r>
            <a:r>
              <a:rPr sz="37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700" spc="-315" dirty="0">
                <a:solidFill>
                  <a:srgbClr val="FFFFFF"/>
                </a:solidFill>
                <a:latin typeface="Arial MT"/>
                <a:cs typeface="Arial MT"/>
              </a:rPr>
              <a:t>LINK</a:t>
            </a:r>
            <a:r>
              <a:rPr sz="3700" spc="-5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700" spc="-100" dirty="0">
                <a:solidFill>
                  <a:srgbClr val="FFFFFF"/>
                </a:solidFill>
                <a:latin typeface="Arial MT"/>
                <a:cs typeface="Arial MT"/>
              </a:rPr>
              <a:t>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7287736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8271" y="7190614"/>
            <a:ext cx="81864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34129" algn="l"/>
                <a:tab pos="6716395" algn="l"/>
              </a:tabLst>
            </a:pPr>
            <a:r>
              <a:rPr sz="2700" dirty="0">
                <a:solidFill>
                  <a:srgbClr val="B3B3B3"/>
                </a:solidFill>
                <a:latin typeface="Arial MT"/>
                <a:cs typeface="Arial MT"/>
              </a:rPr>
              <a:t>Characters</a:t>
            </a:r>
            <a:r>
              <a:rPr sz="2700" spc="130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A3A3A3"/>
                </a:solidFill>
                <a:latin typeface="Arial MT"/>
                <a:cs typeface="Arial MT"/>
              </a:rPr>
              <a:t>and</a:t>
            </a:r>
            <a:r>
              <a:rPr sz="2700" spc="-50" dirty="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A8A8A8"/>
                </a:solidFill>
                <a:latin typeface="Arial MT"/>
                <a:cs typeface="Arial MT"/>
              </a:rPr>
              <a:t>digits</a:t>
            </a:r>
            <a:r>
              <a:rPr sz="2700" spc="-40" dirty="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A5A5A5"/>
                </a:solidFill>
                <a:latin typeface="Arial MT"/>
                <a:cs typeface="Arial MT"/>
              </a:rPr>
              <a:t>(0</a:t>
            </a:r>
            <a:r>
              <a:rPr sz="2700" dirty="0">
                <a:solidFill>
                  <a:srgbClr val="A5A5A5"/>
                </a:solidFill>
                <a:latin typeface="Arial MT"/>
                <a:cs typeface="Arial MT"/>
              </a:rPr>
              <a:t>	</a:t>
            </a:r>
            <a:r>
              <a:rPr sz="2700" spc="-35" dirty="0">
                <a:solidFill>
                  <a:srgbClr val="959CAF"/>
                </a:solidFill>
                <a:latin typeface="Arial MT"/>
                <a:cs typeface="Arial MT"/>
              </a:rPr>
              <a:t>4-</a:t>
            </a:r>
            <a:r>
              <a:rPr sz="2700" dirty="0">
                <a:solidFill>
                  <a:srgbClr val="959CAF"/>
                </a:solidFill>
                <a:latin typeface="Arial MT"/>
                <a:cs typeface="Arial MT"/>
              </a:rPr>
              <a:t>ó)</a:t>
            </a:r>
            <a:r>
              <a:rPr sz="2700" spc="85" dirty="0">
                <a:solidFill>
                  <a:srgbClr val="959CA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B6B6B6"/>
                </a:solidFill>
                <a:latin typeface="Arial MT"/>
                <a:cs typeface="Arial MT"/>
              </a:rPr>
              <a:t>were</a:t>
            </a:r>
            <a:r>
              <a:rPr sz="2700" spc="-95" dirty="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sz="2700" spc="-320" dirty="0">
                <a:solidFill>
                  <a:srgbClr val="A8A8A8"/>
                </a:solidFill>
                <a:latin typeface="Arial MT"/>
                <a:cs typeface="Arial MT"/>
              </a:rPr>
              <a:t>garoİed</a:t>
            </a:r>
            <a:r>
              <a:rPr sz="2700" dirty="0">
                <a:solidFill>
                  <a:srgbClr val="A8A8A8"/>
                </a:solidFill>
                <a:latin typeface="Arial MT"/>
                <a:cs typeface="Arial MT"/>
              </a:rPr>
              <a:t>	</a:t>
            </a:r>
            <a:r>
              <a:rPr sz="2700" spc="-254" dirty="0">
                <a:solidFill>
                  <a:srgbClr val="A8A8A8"/>
                </a:solidFill>
                <a:latin typeface="Arial MT"/>
                <a:cs typeface="Arial MT"/>
              </a:rPr>
              <a:t>We</a:t>
            </a:r>
            <a:r>
              <a:rPr sz="2700" spc="-30" dirty="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sz="2700" spc="-95" dirty="0">
                <a:solidFill>
                  <a:srgbClr val="91A3B6"/>
                </a:solidFill>
                <a:latin typeface="Arial MT"/>
                <a:cs typeface="Arial MT"/>
              </a:rPr>
              <a:t>solved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19398" y="7206975"/>
            <a:ext cx="74295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40" dirty="0">
                <a:solidFill>
                  <a:srgbClr val="B3B3B3"/>
                </a:solidFill>
                <a:latin typeface="Arial MT"/>
                <a:cs typeface="Arial MT"/>
              </a:rPr>
              <a:t>SF/v\L/ImGui</a:t>
            </a:r>
            <a:r>
              <a:rPr sz="2550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2550" spc="90" dirty="0">
                <a:solidFill>
                  <a:srgbClr val="ACACAC"/>
                </a:solidFill>
                <a:latin typeface="Arial MT"/>
                <a:cs typeface="Arial MT"/>
              </a:rPr>
              <a:t>Integral</a:t>
            </a:r>
            <a:r>
              <a:rPr sz="2550" spc="90" dirty="0">
                <a:solidFill>
                  <a:srgbClr val="AAAAAA"/>
                </a:solidFill>
                <a:latin typeface="Arial MT"/>
                <a:cs typeface="Arial MT"/>
              </a:rPr>
              <a:t>ion</a:t>
            </a:r>
            <a:r>
              <a:rPr sz="2550" spc="-80" dirty="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AAAAAA"/>
                </a:solidFill>
                <a:latin typeface="Arial MT"/>
                <a:cs typeface="Arial MT"/>
              </a:rPr>
              <a:t>hurales</a:t>
            </a:r>
            <a:r>
              <a:rPr sz="2550" spc="35" dirty="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sz="2550" spc="50" dirty="0">
                <a:solidFill>
                  <a:srgbClr val="AEAEAE"/>
                </a:solidFill>
                <a:latin typeface="Arial MT"/>
                <a:cs typeface="Arial MT"/>
              </a:rPr>
              <a:t>were</a:t>
            </a:r>
            <a:r>
              <a:rPr sz="2550" spc="-65" dirty="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B5B5B5"/>
                </a:solidFill>
                <a:latin typeface="Arial MT"/>
                <a:cs typeface="Arial MT"/>
              </a:rPr>
              <a:t>solved</a:t>
            </a:r>
            <a:r>
              <a:rPr sz="2550" spc="-70" dirty="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AAAAAA"/>
                </a:solidFill>
                <a:latin typeface="Arial MT"/>
                <a:cs typeface="Arial MT"/>
              </a:rPr>
              <a:t>using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7821751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9346" y="7740336"/>
            <a:ext cx="820547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55" dirty="0">
                <a:solidFill>
                  <a:srgbClr val="A5A5A5"/>
                </a:solidFill>
                <a:latin typeface="Arial MT"/>
                <a:cs typeface="Arial MT"/>
              </a:rPr>
              <a:t>this</a:t>
            </a:r>
            <a:r>
              <a:rPr sz="2700" spc="-135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A5A5A5"/>
                </a:solidFill>
                <a:latin typeface="Arial MT"/>
                <a:cs typeface="Arial MT"/>
              </a:rPr>
              <a:t>by</a:t>
            </a:r>
            <a:r>
              <a:rPr sz="2700" spc="-105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BCBCBC"/>
                </a:solidFill>
                <a:latin typeface="Arial MT"/>
                <a:cs typeface="Arial MT"/>
              </a:rPr>
              <a:t>imDlementing</a:t>
            </a:r>
            <a:r>
              <a:rPr sz="2700" spc="130" dirty="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97A5B8"/>
                </a:solidFill>
                <a:latin typeface="Arial MT"/>
                <a:cs typeface="Arial MT"/>
              </a:rPr>
              <a:t>a</a:t>
            </a:r>
            <a:r>
              <a:rPr sz="2700" spc="-190" dirty="0">
                <a:solidFill>
                  <a:srgbClr val="97A5B8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ACACAC"/>
                </a:solidFill>
                <a:latin typeface="Arial MT"/>
                <a:cs typeface="Arial MT"/>
              </a:rPr>
              <a:t>Dortable</a:t>
            </a:r>
            <a:r>
              <a:rPr sz="2700" spc="-35" dirty="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ACACAC"/>
                </a:solidFill>
                <a:latin typeface="Arial MT"/>
                <a:cs typeface="Arial MT"/>
              </a:rPr>
              <a:t>font</a:t>
            </a:r>
            <a:r>
              <a:rPr sz="2700" spc="-35" dirty="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B3B3B3"/>
                </a:solidFill>
                <a:latin typeface="Arial MT"/>
                <a:cs typeface="Arial MT"/>
              </a:rPr>
              <a:t>loading</a:t>
            </a:r>
            <a:r>
              <a:rPr sz="2700" spc="15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2700" spc="-40" dirty="0">
                <a:solidFill>
                  <a:srgbClr val="BCBCBC"/>
                </a:solidFill>
                <a:latin typeface="Arial MT"/>
                <a:cs typeface="Arial MT"/>
              </a:rPr>
              <a:t>sequence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11545" y="7756697"/>
            <a:ext cx="84582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509260" algn="l"/>
              </a:tabLst>
            </a:pPr>
            <a:r>
              <a:rPr sz="2550" spc="229" dirty="0">
                <a:solidFill>
                  <a:srgbClr val="A8A8A8"/>
                </a:solidFill>
                <a:latin typeface="Calibri"/>
                <a:cs typeface="Calibri"/>
              </a:rPr>
              <a:t>advanced</a:t>
            </a:r>
            <a:r>
              <a:rPr sz="2550" spc="165" dirty="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sz="2550" spc="254" dirty="0">
                <a:solidFill>
                  <a:srgbClr val="B1B1B1"/>
                </a:solidFill>
                <a:latin typeface="Calibri"/>
                <a:cs typeface="Calibri"/>
              </a:rPr>
              <a:t>CMake</a:t>
            </a:r>
            <a:r>
              <a:rPr sz="2550" spc="100" dirty="0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sz="2550" spc="100" dirty="0">
                <a:solidFill>
                  <a:srgbClr val="B5B5B5"/>
                </a:solidFill>
                <a:latin typeface="Calibri"/>
                <a:cs typeface="Calibri"/>
              </a:rPr>
              <a:t>configuration</a:t>
            </a:r>
            <a:r>
              <a:rPr sz="2550" spc="34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2550" spc="100" dirty="0">
                <a:solidFill>
                  <a:srgbClr val="A5A5A5"/>
                </a:solidFill>
                <a:latin typeface="Calibri"/>
                <a:cs typeface="Calibri"/>
              </a:rPr>
              <a:t>and</a:t>
            </a:r>
            <a:r>
              <a:rPr sz="2550" dirty="0">
                <a:solidFill>
                  <a:srgbClr val="A5A5A5"/>
                </a:solidFill>
                <a:latin typeface="Calibri"/>
                <a:cs typeface="Calibri"/>
              </a:rPr>
              <a:t>	</a:t>
            </a:r>
            <a:r>
              <a:rPr sz="2550" dirty="0">
                <a:solidFill>
                  <a:srgbClr val="B3B3B3"/>
                </a:solidFill>
                <a:latin typeface="Calibri"/>
                <a:cs typeface="Calibri"/>
              </a:rPr>
              <a:t>exDlicit</a:t>
            </a:r>
            <a:r>
              <a:rPr sz="2550" spc="395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550" spc="65" dirty="0">
                <a:solidFill>
                  <a:srgbClr val="B3B3B3"/>
                </a:solidFill>
                <a:latin typeface="Calibri"/>
                <a:cs typeface="Calibri"/>
              </a:rPr>
              <a:t>Drefix</a:t>
            </a:r>
            <a:r>
              <a:rPr sz="2550" spc="390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550" spc="150" dirty="0">
                <a:solidFill>
                  <a:srgbClr val="AEAEAE"/>
                </a:solidFill>
                <a:latin typeface="Calibri"/>
                <a:cs typeface="Calibri"/>
              </a:rPr>
              <a:t>Daths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8371472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0687" y="8306418"/>
            <a:ext cx="43700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75" dirty="0">
                <a:solidFill>
                  <a:srgbClr val="899AB5"/>
                </a:solidFill>
                <a:latin typeface="Calibri"/>
                <a:cs typeface="Calibri"/>
              </a:rPr>
              <a:t>and</a:t>
            </a:r>
            <a:r>
              <a:rPr sz="2550" spc="295" dirty="0">
                <a:solidFill>
                  <a:srgbClr val="899AB5"/>
                </a:solidFill>
                <a:latin typeface="Calibri"/>
                <a:cs typeface="Calibri"/>
              </a:rPr>
              <a:t> </a:t>
            </a:r>
            <a:r>
              <a:rPr sz="2550" spc="185" dirty="0">
                <a:solidFill>
                  <a:srgbClr val="ACACAC"/>
                </a:solidFill>
                <a:latin typeface="Calibri"/>
                <a:cs typeface="Calibri"/>
              </a:rPr>
              <a:t>manual</a:t>
            </a:r>
            <a:r>
              <a:rPr sz="2550" spc="275" dirty="0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7E8295"/>
                </a:solidFill>
                <a:latin typeface="Calibri"/>
                <a:cs typeface="Calibri"/>
              </a:rPr>
              <a:t>texture</a:t>
            </a:r>
            <a:r>
              <a:rPr sz="2550" spc="30" dirty="0">
                <a:solidFill>
                  <a:srgbClr val="7E8295"/>
                </a:solidFill>
                <a:latin typeface="Calibri"/>
                <a:cs typeface="Calibri"/>
              </a:rPr>
              <a:t> </a:t>
            </a:r>
            <a:r>
              <a:rPr sz="2550" spc="100" dirty="0">
                <a:solidFill>
                  <a:srgbClr val="AFAFAF"/>
                </a:solidFill>
                <a:latin typeface="Calibri"/>
                <a:cs typeface="Calibri"/>
              </a:rPr>
              <a:t>uDdates.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15353" y="8306418"/>
            <a:ext cx="174752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55" dirty="0">
                <a:solidFill>
                  <a:srgbClr val="8EA5B5"/>
                </a:solidFill>
                <a:latin typeface="Arial MT"/>
                <a:cs typeface="Arial MT"/>
              </a:rPr>
              <a:t>for</a:t>
            </a:r>
            <a:r>
              <a:rPr sz="2550" spc="75" dirty="0">
                <a:solidFill>
                  <a:srgbClr val="8EA5B5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AEAEAE"/>
                </a:solidFill>
                <a:latin typeface="Arial MT"/>
                <a:cs typeface="Arial MT"/>
              </a:rPr>
              <a:t>binaries.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3594-4EAF-4BA8-712F-20FF1A85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8FD26-992B-62A0-08BF-B4293BD36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D9E83-FFE2-ACE8-9E4E-B69C2F6DA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950" y="-88025"/>
            <a:ext cx="20262850" cy="1139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32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4551F76-03BE-2C78-9CDE-0098D483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332244-EF5D-A135-D974-1B7437DC2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BB8F9E-3285-D60A-84CE-0220EC78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750" y="-126079"/>
            <a:ext cx="20262850" cy="11471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9050" y="5730875"/>
            <a:ext cx="10896600" cy="7194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600" spc="-10" dirty="0">
                <a:solidFill>
                  <a:srgbClr val="858CA0"/>
                </a:solidFill>
              </a:rPr>
              <a:t>The</a:t>
            </a:r>
            <a:r>
              <a:rPr sz="4600" spc="-270" dirty="0">
                <a:solidFill>
                  <a:srgbClr val="858CA0"/>
                </a:solidFill>
              </a:rPr>
              <a:t> </a:t>
            </a:r>
            <a:r>
              <a:rPr sz="4600" dirty="0">
                <a:solidFill>
                  <a:srgbClr val="9CA3B5"/>
                </a:solidFill>
              </a:rPr>
              <a:t>floor</a:t>
            </a:r>
            <a:r>
              <a:rPr sz="4600" spc="-95" dirty="0">
                <a:solidFill>
                  <a:srgbClr val="9CA3B5"/>
                </a:solidFill>
              </a:rPr>
              <a:t> </a:t>
            </a:r>
            <a:r>
              <a:rPr sz="4600" spc="-290" dirty="0">
                <a:solidFill>
                  <a:srgbClr val="444D60"/>
                </a:solidFill>
              </a:rPr>
              <a:t>is</a:t>
            </a:r>
            <a:r>
              <a:rPr sz="4600" spc="10" dirty="0">
                <a:solidFill>
                  <a:srgbClr val="444D60"/>
                </a:solidFill>
              </a:rPr>
              <a:t> </a:t>
            </a:r>
            <a:r>
              <a:rPr sz="4600" dirty="0">
                <a:solidFill>
                  <a:srgbClr val="97A1B3"/>
                </a:solidFill>
              </a:rPr>
              <a:t>now</a:t>
            </a:r>
            <a:r>
              <a:rPr sz="4600" spc="-35" dirty="0">
                <a:solidFill>
                  <a:srgbClr val="97A1B3"/>
                </a:solidFill>
              </a:rPr>
              <a:t> </a:t>
            </a:r>
            <a:r>
              <a:rPr sz="4600" dirty="0">
                <a:solidFill>
                  <a:srgbClr val="99A0B3"/>
                </a:solidFill>
              </a:rPr>
              <a:t>open</a:t>
            </a:r>
            <a:r>
              <a:rPr sz="4600" spc="-130" dirty="0">
                <a:solidFill>
                  <a:srgbClr val="99A0B3"/>
                </a:solidFill>
              </a:rPr>
              <a:t> </a:t>
            </a:r>
            <a:r>
              <a:rPr sz="4600" dirty="0">
                <a:solidFill>
                  <a:srgbClr val="9CA3B5"/>
                </a:solidFill>
              </a:rPr>
              <a:t>for</a:t>
            </a:r>
            <a:r>
              <a:rPr sz="4600" spc="-40" dirty="0">
                <a:solidFill>
                  <a:srgbClr val="9CA3B5"/>
                </a:solidFill>
              </a:rPr>
              <a:t> </a:t>
            </a:r>
            <a:r>
              <a:rPr sz="4600" spc="-60" dirty="0">
                <a:solidFill>
                  <a:srgbClr val="95A1B3"/>
                </a:solidFill>
              </a:rPr>
              <a:t>your</a:t>
            </a:r>
            <a:r>
              <a:rPr sz="4600" spc="-114" dirty="0">
                <a:solidFill>
                  <a:srgbClr val="95A1B3"/>
                </a:solidFill>
              </a:rPr>
              <a:t> </a:t>
            </a:r>
            <a:r>
              <a:rPr sz="4600" spc="-95" dirty="0">
                <a:solidFill>
                  <a:srgbClr val="ACACAC"/>
                </a:solidFill>
              </a:rPr>
              <a:t>questions.</a:t>
            </a:r>
            <a:endParaRPr sz="4600" dirty="0"/>
          </a:p>
        </p:txBody>
      </p:sp>
      <p:sp>
        <p:nvSpPr>
          <p:cNvPr id="3" name="object 3"/>
          <p:cNvSpPr/>
          <p:nvPr/>
        </p:nvSpPr>
        <p:spPr>
          <a:xfrm>
            <a:off x="15706" y="4539128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89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06" y="4740275"/>
            <a:ext cx="20080605" cy="6863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102" y="915936"/>
            <a:ext cx="12138748" cy="9239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125"/>
              </a:spcBef>
            </a:pPr>
            <a:r>
              <a:rPr spc="160" dirty="0"/>
              <a:t>Image</a:t>
            </a:r>
            <a:r>
              <a:rPr spc="30" dirty="0"/>
              <a:t> </a:t>
            </a:r>
            <a:r>
              <a:rPr spc="-165" dirty="0"/>
              <a:t>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33C0C9-6D77-7EA8-2C49-3F7E0B4E4AAC}"/>
              </a:ext>
            </a:extLst>
          </p:cNvPr>
          <p:cNvSpPr/>
          <p:nvPr/>
        </p:nvSpPr>
        <p:spPr>
          <a:xfrm>
            <a:off x="984250" y="3140075"/>
            <a:ext cx="17830800" cy="7239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 algn="l"/>
            <a:r>
              <a:rPr lang="en-US" sz="2400" dirty="0">
                <a:hlinkClick r:id="rId2"/>
              </a:rPr>
              <a:t>https://www.slidekit.com/wpcontent/uploads/2025/05/Multi-Tiered-Enterprise-Architecture-Diagram-PowerPoint-Template.jpg</a:t>
            </a:r>
            <a:endParaRPr lang="en-US" sz="2400" dirty="0"/>
          </a:p>
          <a:p>
            <a:pPr lvl="3" algn="l"/>
            <a:r>
              <a:rPr lang="en-US" sz="2400" dirty="0"/>
              <a:t>Source: </a:t>
            </a:r>
            <a:r>
              <a:rPr lang="en-US" sz="2400" dirty="0">
                <a:hlinkClick r:id="rId3"/>
              </a:rPr>
              <a:t>www.slidekit.com</a:t>
            </a:r>
            <a:endParaRPr lang="en-US" sz="2400" dirty="0"/>
          </a:p>
          <a:p>
            <a:pPr lvl="3" algn="l"/>
            <a:endParaRPr lang="en-US" sz="2400" dirty="0"/>
          </a:p>
          <a:p>
            <a:pPr lvl="3" algn="l"/>
            <a:endParaRPr lang="en-US" sz="2400" dirty="0"/>
          </a:p>
          <a:p>
            <a:pPr lvl="3" algn="l"/>
            <a:endParaRPr lang="en-US" sz="2400" dirty="0"/>
          </a:p>
          <a:p>
            <a:pPr lvl="3" algn="l"/>
            <a:r>
              <a:rPr lang="en-US" sz="2400" dirty="0">
                <a:hlinkClick r:id="rId4"/>
              </a:rPr>
              <a:t>https://multipurposethemes.com/wp-content/uploads/2024/10/Powerful-Dark-Mode-Hospital-Dashboard-for-Medical-Facilities-1-1200x675.jpg</a:t>
            </a:r>
            <a:endParaRPr lang="en-US" sz="2400" dirty="0"/>
          </a:p>
          <a:p>
            <a:pPr lvl="3" algn="l"/>
            <a:r>
              <a:rPr lang="en-US" sz="2400" dirty="0"/>
              <a:t>Source: </a:t>
            </a:r>
            <a:r>
              <a:rPr lang="en-US" sz="2400" dirty="0">
                <a:hlinkClick r:id="rId5"/>
              </a:rPr>
              <a:t>multipurposethemes.com</a:t>
            </a:r>
            <a:endParaRPr lang="en-US" sz="2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139</Words>
  <Application>Microsoft Office PowerPoint</Application>
  <PresentationFormat>Custom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 MT</vt:lpstr>
      <vt:lpstr>Calibri</vt:lpstr>
      <vt:lpstr>Office Theme</vt:lpstr>
      <vt:lpstr>High-Performance C++ GUI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) Challenges Overcome</vt:lpstr>
      <vt:lpstr>PowerPoint Presentation</vt:lpstr>
      <vt:lpstr>PowerPoint Presentation</vt:lpstr>
      <vt:lpstr>The floor is now open for your questions.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Hp</dc:creator>
  <cp:lastModifiedBy>Sharjeel Abdullah</cp:lastModifiedBy>
  <cp:revision>1</cp:revision>
  <dcterms:created xsi:type="dcterms:W3CDTF">2026-05-03T18:12:48Z</dcterms:created>
  <dcterms:modified xsi:type="dcterms:W3CDTF">2026-05-03T18:40:11Z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2026-05-02T00:00:00Z</vt:filetime>
  </property>
  <property fmtid="{D5CDD505-2E9C-101B-9397-08002B2CF9AE}" pid="3" name="LastSaved">
    <vt:filetime>2026-05-03T00:00:00Z</vt:filetime>
  </property>
</Properties>
</file>